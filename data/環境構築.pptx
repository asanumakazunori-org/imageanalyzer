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14" r:id="rId5"/>
    <p:sldId id="318" r:id="rId6"/>
    <p:sldId id="315" r:id="rId7"/>
    <p:sldId id="316" r:id="rId8"/>
    <p:sldId id="317" r:id="rId9"/>
    <p:sldId id="311" r:id="rId10"/>
    <p:sldId id="312" r:id="rId11"/>
    <p:sldId id="281" r:id="rId12"/>
    <p:sldId id="292" r:id="rId13"/>
    <p:sldId id="282" r:id="rId14"/>
    <p:sldId id="283" r:id="rId15"/>
    <p:sldId id="284" r:id="rId16"/>
    <p:sldId id="287" r:id="rId17"/>
    <p:sldId id="285" r:id="rId18"/>
    <p:sldId id="286" r:id="rId19"/>
    <p:sldId id="288" r:id="rId20"/>
    <p:sldId id="289" r:id="rId21"/>
    <p:sldId id="290" r:id="rId22"/>
    <p:sldId id="291" r:id="rId23"/>
    <p:sldId id="278" r:id="rId24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90C89C-B675-477A-B5D2-0BB8AC496B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B2B68F5-57DD-4110-A094-875DFF550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BA509A-ACA8-471C-B67E-3CA1DC04E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68B-E92E-485B-922D-4178230DFC56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454730-7BE3-44FF-A3F4-78EAFBB1C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653811-0D0B-46ED-AFAC-48CCDCF3D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A3D72-9760-4486-B94E-9152385D94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7949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1BA58B-2284-4F85-91AD-F78F53148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B8D9B0-5B05-4053-A82A-0823E5661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908067-5217-463F-8CE7-C0FF881A8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68B-E92E-485B-922D-4178230DFC56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517266-6B7E-437A-B1F7-635EFB319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A1C919-206A-4013-A170-61DF0900E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A3D72-9760-4486-B94E-9152385D94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670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9126F1-6AB5-4CE6-A6CB-E554313C2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82298B-65FA-418E-BFEB-A8B993340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C3119E-8D06-4E73-90A5-95BE41D2F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68B-E92E-485B-922D-4178230DFC56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EB73B6-8310-4F09-8C9A-4C44C6DCD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CCDD99-4A9B-4563-9014-8535E9ECD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A3D72-9760-4486-B94E-9152385D94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7897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F1B895-E552-481D-9A5E-EFA485162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3542BD-7949-426E-8123-0491001966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0B9C03-2547-44F4-A6F7-9C4411262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AE4A71F-9447-4618-AB36-B0B03FCE6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68B-E92E-485B-922D-4178230DFC56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4FC591-446E-4895-A5DB-A95B2EADC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3F7F6BE-766D-4584-A531-13D482813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A3D72-9760-4486-B94E-9152385D94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0414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52CEF3-D2A3-48F3-9B39-E956782C6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3594E50-E323-4957-8296-69C29AAE3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81AA3E-8E80-4381-B52C-2F30194189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82810E8-1218-4ACE-AD54-88BAD12071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3F8FC6F-27FA-43EA-B681-20D20E3D61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10383CD-CCBD-4783-8942-71D4585A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68B-E92E-485B-922D-4178230DFC56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E397F2C-A700-4A8B-9DF5-EBFC459FE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9086AE5-D6E8-4E82-995A-664D353D5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A3D72-9760-4486-B94E-9152385D94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6929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1AB80E-7CCE-47D9-AD62-C81668680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74C5FE0-C88F-417D-85B0-8D821897B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68B-E92E-485B-922D-4178230DFC56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3579571-C69E-4336-94A7-B24CCE622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57C3B91-37BE-4DEE-B777-8C322722E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A3D72-9760-4486-B94E-9152385D94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079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5A7C0BF-B004-4015-A5C3-1D1C393B0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68B-E92E-485B-922D-4178230DFC56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A0B2F41-6078-42E2-B102-FD561DDB4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41E415-456A-47CC-B625-4F235C434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A3D72-9760-4486-B94E-9152385D94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8177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4DEE2E-42AC-42E2-BAC5-D2A378A23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181BDD-EC0A-48FC-9D97-BCD982D7A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8074525-43D3-4313-8254-64CCC7E1C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F03E34B-AD79-403C-A6F5-66A93E85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68B-E92E-485B-922D-4178230DFC56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603967-7C4C-4FDA-8355-3FBE1846B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8CFFE5-49F4-4A3A-9FC1-DE49A74B0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A3D72-9760-4486-B94E-9152385D94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2986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3DE9E4-01BA-4DCC-A8DD-D78830386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6494B2D-7223-4F2A-B1C6-8A00D12C61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04CC980-9757-45BD-BD50-0CE58A356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E119F9-7457-45FA-98B8-621011A4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68B-E92E-485B-922D-4178230DFC56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13556BF-CD86-4D48-8F63-74926C05E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259C82D-D3AB-425E-8A9E-41E6C3367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A3D72-9760-4486-B94E-9152385D94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5768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59F50E-AA64-4FAC-9359-C5682F375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52ABE68-13E4-4151-9762-4535C3163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90288C-EA31-4ECA-A8B4-8AE26E6D3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68B-E92E-485B-922D-4178230DFC56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676139-A484-4721-949F-959E9CB6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3D443E-EF99-4786-BA19-6FA92F607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A3D72-9760-4486-B94E-9152385D94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9497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8473A25-1691-4952-9F44-880241E383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6F3351-5C2F-4F6D-B0F5-51199FC03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80DAFE-D647-4816-B2A2-D1AF0D85E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68B-E92E-485B-922D-4178230DFC56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F3FB02-C19B-4D8F-AD15-BFD7D31F4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93029E-7914-4AC2-97DE-8A7333DC9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A3D72-9760-4486-B94E-9152385D94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1856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545D277-003C-4EAD-B1A4-881F9E99A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9892225-A843-4532-A13F-3628D16A0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E4E5FF-C26A-498E-94A6-7E88E3B25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9C268B-E92E-485B-922D-4178230DFC56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B823F5-7ADC-4FC9-B4CE-44751AA01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322424-07E3-460D-AB66-834A6F75A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A3D72-9760-4486-B94E-9152385D94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4713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nvidia.co.jp/Download/index.aspx?lang=j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D97D7ED4-D18F-4F8A-A850-92A05C562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Python</a:t>
            </a:r>
            <a:r>
              <a:rPr lang="ja-JP" altLang="en-US" dirty="0"/>
              <a:t>仮想環境の構築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C9A63B3-28CE-483E-BD94-762E2857C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ja-JP" sz="3200" dirty="0"/>
              <a:t>Visual Studio Code</a:t>
            </a:r>
            <a:r>
              <a:rPr lang="ja-JP" altLang="en-US" sz="3200" dirty="0"/>
              <a:t>で</a:t>
            </a:r>
            <a:r>
              <a:rPr lang="en-US" altLang="ja-JP" sz="3200" dirty="0"/>
              <a:t>Python</a:t>
            </a:r>
            <a:endParaRPr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228199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543D64-E6C5-757B-7431-A875A7CD7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git</a:t>
            </a:r>
            <a:r>
              <a:rPr kumimoji="1" lang="ja-JP" altLang="en-US" dirty="0"/>
              <a:t>のインストール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CB9A9C3-24B9-07A1-3063-FE73C1CB38C0}"/>
              </a:ext>
            </a:extLst>
          </p:cNvPr>
          <p:cNvSpPr txBox="1"/>
          <p:nvPr/>
        </p:nvSpPr>
        <p:spPr>
          <a:xfrm>
            <a:off x="838200" y="1690688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2"/>
              </a:rPr>
              <a:t>Git - Downloads</a:t>
            </a:r>
            <a:endParaRPr lang="ja-JP" alt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ECDB2B1C-B20B-5DA8-F5FA-B99AB74AE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52070"/>
            <a:ext cx="4571032" cy="442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654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29DD3B-9301-44E2-9F45-EAF6EDC70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pyenv</a:t>
            </a:r>
            <a:r>
              <a:rPr kumimoji="1" lang="ja-JP" altLang="en-US" dirty="0"/>
              <a:t>のインストール</a:t>
            </a:r>
            <a:endParaRPr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15A4828-0C64-4EB3-B7AD-75DCE7B5AF88}"/>
              </a:ext>
            </a:extLst>
          </p:cNvPr>
          <p:cNvSpPr txBox="1"/>
          <p:nvPr/>
        </p:nvSpPr>
        <p:spPr>
          <a:xfrm>
            <a:off x="5257800" y="252996"/>
            <a:ext cx="67774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https://qiita.com/probabilityhill/items/9a22f395a1e93206c846#zip-%E3%83%95%E3%82%A1%E3%82%A4%E3%83%AB%E3%82%92%E4%BD%BF%E7%94%A8</a:t>
            </a:r>
            <a:endParaRPr lang="ja-JP" altLang="en-US" sz="12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EDF755D-D128-440D-8A28-459E1E846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500" y="2463301"/>
            <a:ext cx="7704986" cy="4029574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7B8A91D-15A3-4615-8788-287D4B0E74DA}"/>
              </a:ext>
            </a:extLst>
          </p:cNvPr>
          <p:cNvSpPr txBox="1"/>
          <p:nvPr/>
        </p:nvSpPr>
        <p:spPr>
          <a:xfrm>
            <a:off x="916500" y="1690688"/>
            <a:ext cx="94139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Ricty Diminished"/>
              </a:rPr>
              <a:t>コマンドプロンプトから</a:t>
            </a:r>
            <a:endParaRPr lang="fr-FR" altLang="ja-JP" b="0" i="0" dirty="0">
              <a:effectLst/>
              <a:latin typeface="Ricty Diminished"/>
            </a:endParaRPr>
          </a:p>
          <a:p>
            <a:r>
              <a:rPr lang="fr-FR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&gt; git </a:t>
            </a:r>
            <a:r>
              <a:rPr lang="fr-FR" altLang="ja-JP" b="0" i="0" dirty="0">
                <a:solidFill>
                  <a:srgbClr val="8BDF4C"/>
                </a:solidFill>
                <a:effectLst/>
                <a:highlight>
                  <a:srgbClr val="000000"/>
                </a:highlight>
                <a:latin typeface="Ricty Diminished"/>
              </a:rPr>
              <a:t>clone</a:t>
            </a:r>
            <a:r>
              <a:rPr lang="fr-FR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 </a:t>
            </a:r>
            <a:r>
              <a:rPr lang="fr-FR" altLang="ja-JP" b="0" i="0" dirty="0">
                <a:solidFill>
                  <a:srgbClr val="8BDF4C"/>
                </a:solidFill>
                <a:effectLst/>
                <a:highlight>
                  <a:srgbClr val="000000"/>
                </a:highlight>
                <a:latin typeface="Ricty Diminished"/>
              </a:rPr>
              <a:t>https://github.com/pyenv-win/pyenv-win.git</a:t>
            </a:r>
            <a:r>
              <a:rPr lang="fr-FR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 </a:t>
            </a:r>
            <a:r>
              <a:rPr lang="fr-FR" altLang="ja-JP" b="0" i="0" dirty="0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"%USERPROFILE%\.pyenv"</a:t>
            </a:r>
            <a:endParaRPr lang="ja-JP" altLang="en-US" dirty="0"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03823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29DD3B-9301-44E2-9F45-EAF6EDC70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pyenv</a:t>
            </a:r>
            <a:r>
              <a:rPr kumimoji="1" lang="ja-JP" altLang="en-US" dirty="0"/>
              <a:t>のインストール</a:t>
            </a:r>
            <a:endParaRPr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15A4828-0C64-4EB3-B7AD-75DCE7B5AF88}"/>
              </a:ext>
            </a:extLst>
          </p:cNvPr>
          <p:cNvSpPr txBox="1"/>
          <p:nvPr/>
        </p:nvSpPr>
        <p:spPr>
          <a:xfrm>
            <a:off x="5257800" y="252996"/>
            <a:ext cx="67774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https://qiita.com/probabilityhill/items/9a22f395a1e93206c846#zip-%E3%83%95%E3%82%A1%E3%82%A4%E3%83%AB%E3%82%92%E4%BD%BF%E7%94%A8</a:t>
            </a:r>
            <a:endParaRPr lang="ja-JP" altLang="en-US" sz="12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59B78C5-8015-4F4E-A313-6A8C718E1A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966"/>
          <a:stretch/>
        </p:blipFill>
        <p:spPr>
          <a:xfrm>
            <a:off x="449494" y="3320438"/>
            <a:ext cx="8047844" cy="3088433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E21C5DB-6686-4841-BB28-B7DED0A9FE7F}"/>
              </a:ext>
            </a:extLst>
          </p:cNvPr>
          <p:cNvSpPr txBox="1"/>
          <p:nvPr/>
        </p:nvSpPr>
        <p:spPr>
          <a:xfrm>
            <a:off x="299759" y="1697254"/>
            <a:ext cx="118093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Powershell</a:t>
            </a:r>
            <a:r>
              <a:rPr kumimoji="1" lang="ja-JP" altLang="en-US" dirty="0"/>
              <a:t>で</a:t>
            </a:r>
            <a:r>
              <a:rPr lang="ja-JP" altLang="en-US" dirty="0"/>
              <a:t>一行ずつ</a:t>
            </a:r>
            <a:endParaRPr kumimoji="1" lang="en-US" altLang="ja-JP" dirty="0"/>
          </a:p>
          <a:p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[</a:t>
            </a:r>
            <a:r>
              <a:rPr lang="en-US" altLang="ja-JP" b="0" i="0" dirty="0" err="1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System.Environment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]::</a:t>
            </a:r>
            <a:r>
              <a:rPr lang="en-US" altLang="ja-JP" b="0" i="0" dirty="0" err="1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SetEnvironmentVariable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(</a:t>
            </a:r>
            <a:r>
              <a:rPr lang="en-US" altLang="ja-JP" b="0" i="0" dirty="0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'PYENV'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,$</a:t>
            </a:r>
            <a:r>
              <a:rPr lang="en-US" altLang="ja-JP" b="0" i="0" dirty="0" err="1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env:USERPROFILE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 </a:t>
            </a:r>
            <a:r>
              <a:rPr lang="en-US" altLang="ja-JP" b="0" i="0" dirty="0">
                <a:solidFill>
                  <a:srgbClr val="FF8095"/>
                </a:solidFill>
                <a:effectLst/>
                <a:highlight>
                  <a:srgbClr val="000000"/>
                </a:highlight>
                <a:latin typeface="Ricty Diminished"/>
              </a:rPr>
              <a:t>+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 </a:t>
            </a:r>
            <a:r>
              <a:rPr lang="en-US" altLang="ja-JP" b="0" i="0" dirty="0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"\.</a:t>
            </a:r>
            <a:r>
              <a:rPr lang="en-US" altLang="ja-JP" b="0" i="0" dirty="0" err="1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pyenv</a:t>
            </a:r>
            <a:r>
              <a:rPr lang="en-US" altLang="ja-JP" b="0" i="0" dirty="0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\</a:t>
            </a:r>
            <a:r>
              <a:rPr lang="en-US" altLang="ja-JP" b="0" i="0" dirty="0" err="1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pyenv</a:t>
            </a:r>
            <a:r>
              <a:rPr lang="en-US" altLang="ja-JP" b="0" i="0" dirty="0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-win\"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,</a:t>
            </a:r>
            <a:r>
              <a:rPr lang="en-US" altLang="ja-JP" b="0" i="0" dirty="0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"User"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)</a:t>
            </a:r>
          </a:p>
          <a:p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[</a:t>
            </a:r>
            <a:r>
              <a:rPr lang="en-US" altLang="ja-JP" b="0" i="0" dirty="0" err="1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System.Environment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]::</a:t>
            </a:r>
            <a:r>
              <a:rPr lang="en-US" altLang="ja-JP" b="0" i="0" dirty="0" err="1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SetEnvironmentVariable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(</a:t>
            </a:r>
            <a:r>
              <a:rPr lang="en-US" altLang="ja-JP" b="0" i="0" dirty="0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'PYENV_HOME'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,$</a:t>
            </a:r>
            <a:r>
              <a:rPr lang="en-US" altLang="ja-JP" b="0" i="0" dirty="0" err="1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env:USERPROFILE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 </a:t>
            </a:r>
            <a:r>
              <a:rPr lang="en-US" altLang="ja-JP" b="0" i="0" dirty="0">
                <a:solidFill>
                  <a:srgbClr val="FF8095"/>
                </a:solidFill>
                <a:effectLst/>
                <a:highlight>
                  <a:srgbClr val="000000"/>
                </a:highlight>
                <a:latin typeface="Ricty Diminished"/>
              </a:rPr>
              <a:t>+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 </a:t>
            </a:r>
            <a:r>
              <a:rPr lang="en-US" altLang="ja-JP" b="0" i="0" dirty="0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"\.</a:t>
            </a:r>
            <a:r>
              <a:rPr lang="en-US" altLang="ja-JP" b="0" i="0" dirty="0" err="1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pyenv</a:t>
            </a:r>
            <a:r>
              <a:rPr lang="en-US" altLang="ja-JP" b="0" i="0" dirty="0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\</a:t>
            </a:r>
            <a:r>
              <a:rPr lang="en-US" altLang="ja-JP" b="0" i="0" dirty="0" err="1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pyenv</a:t>
            </a:r>
            <a:r>
              <a:rPr lang="en-US" altLang="ja-JP" b="0" i="0" dirty="0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-win\"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,</a:t>
            </a:r>
            <a:r>
              <a:rPr lang="en-US" altLang="ja-JP" b="0" i="0" dirty="0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"User"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)</a:t>
            </a:r>
            <a:endParaRPr lang="en-US" altLang="ja-JP" dirty="0">
              <a:solidFill>
                <a:srgbClr val="E3E3E3"/>
              </a:solidFill>
              <a:highlight>
                <a:srgbClr val="000000"/>
              </a:highlight>
              <a:latin typeface="Ricty Diminished"/>
            </a:endParaRPr>
          </a:p>
          <a:p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[</a:t>
            </a:r>
            <a:r>
              <a:rPr lang="en-US" altLang="ja-JP" b="0" i="0" dirty="0" err="1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System.Environment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]::</a:t>
            </a:r>
            <a:r>
              <a:rPr lang="en-US" altLang="ja-JP" b="0" i="0" dirty="0" err="1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SetEnvironmentVariable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(</a:t>
            </a:r>
            <a:r>
              <a:rPr lang="en-US" altLang="ja-JP" b="0" i="0" dirty="0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'path'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, $</a:t>
            </a:r>
            <a:r>
              <a:rPr lang="en-US" altLang="ja-JP" b="0" i="0" dirty="0" err="1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env:USERPROFILE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 </a:t>
            </a:r>
            <a:r>
              <a:rPr lang="en-US" altLang="ja-JP" b="0" i="0" dirty="0">
                <a:solidFill>
                  <a:srgbClr val="FF8095"/>
                </a:solidFill>
                <a:effectLst/>
                <a:highlight>
                  <a:srgbClr val="000000"/>
                </a:highlight>
                <a:latin typeface="Ricty Diminished"/>
              </a:rPr>
              <a:t>+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 </a:t>
            </a:r>
            <a:r>
              <a:rPr lang="en-US" altLang="ja-JP" b="0" i="0" dirty="0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"\.</a:t>
            </a:r>
            <a:r>
              <a:rPr lang="en-US" altLang="ja-JP" b="0" i="0" dirty="0" err="1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pyenv</a:t>
            </a:r>
            <a:r>
              <a:rPr lang="en-US" altLang="ja-JP" b="0" i="0" dirty="0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\</a:t>
            </a:r>
            <a:r>
              <a:rPr lang="en-US" altLang="ja-JP" b="0" i="0" dirty="0" err="1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pyenv</a:t>
            </a:r>
            <a:r>
              <a:rPr lang="en-US" altLang="ja-JP" b="0" i="0" dirty="0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-win\bin;"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 </a:t>
            </a:r>
            <a:r>
              <a:rPr lang="en-US" altLang="ja-JP" b="0" i="0" dirty="0">
                <a:solidFill>
                  <a:srgbClr val="FF8095"/>
                </a:solidFill>
                <a:effectLst/>
                <a:highlight>
                  <a:srgbClr val="000000"/>
                </a:highlight>
                <a:latin typeface="Ricty Diminished"/>
              </a:rPr>
              <a:t>+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 $</a:t>
            </a:r>
            <a:r>
              <a:rPr lang="en-US" altLang="ja-JP" b="0" i="0" dirty="0" err="1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env:USERPROFILE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 </a:t>
            </a:r>
            <a:r>
              <a:rPr lang="en-US" altLang="ja-JP" b="0" i="0" dirty="0">
                <a:solidFill>
                  <a:srgbClr val="FF8095"/>
                </a:solidFill>
                <a:effectLst/>
                <a:highlight>
                  <a:srgbClr val="000000"/>
                </a:highlight>
                <a:latin typeface="Ricty Diminished"/>
              </a:rPr>
              <a:t>+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 </a:t>
            </a:r>
            <a:r>
              <a:rPr lang="en-US" altLang="ja-JP" b="0" i="0" dirty="0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"\.</a:t>
            </a:r>
            <a:r>
              <a:rPr lang="en-US" altLang="ja-JP" b="0" i="0" dirty="0" err="1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pyenv</a:t>
            </a:r>
            <a:r>
              <a:rPr lang="en-US" altLang="ja-JP" b="0" i="0" dirty="0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\</a:t>
            </a:r>
            <a:r>
              <a:rPr lang="en-US" altLang="ja-JP" b="0" i="0" dirty="0" err="1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pyenv</a:t>
            </a:r>
            <a:r>
              <a:rPr lang="en-US" altLang="ja-JP" b="0" i="0" dirty="0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-win\shims;"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 </a:t>
            </a:r>
            <a:r>
              <a:rPr lang="en-US" altLang="ja-JP" b="0" i="0" dirty="0">
                <a:solidFill>
                  <a:srgbClr val="FF8095"/>
                </a:solidFill>
                <a:effectLst/>
                <a:highlight>
                  <a:srgbClr val="000000"/>
                </a:highlight>
                <a:latin typeface="Ricty Diminished"/>
              </a:rPr>
              <a:t>+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 [</a:t>
            </a:r>
            <a:r>
              <a:rPr lang="en-US" altLang="ja-JP" b="0" i="0" dirty="0" err="1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System.Environment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]::</a:t>
            </a:r>
            <a:r>
              <a:rPr lang="en-US" altLang="ja-JP" b="0" i="0" dirty="0" err="1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GetEnvironmentVariable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(</a:t>
            </a:r>
            <a:r>
              <a:rPr lang="en-US" altLang="ja-JP" b="0" i="0" dirty="0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'path'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, </a:t>
            </a:r>
            <a:r>
              <a:rPr lang="en-US" altLang="ja-JP" b="0" i="0" dirty="0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"User"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),</a:t>
            </a:r>
            <a:r>
              <a:rPr lang="en-US" altLang="ja-JP" b="0" i="0" dirty="0">
                <a:solidFill>
                  <a:srgbClr val="3BBFBF"/>
                </a:solidFill>
                <a:effectLst/>
                <a:highlight>
                  <a:srgbClr val="000000"/>
                </a:highlight>
                <a:latin typeface="Ricty Diminished"/>
              </a:rPr>
              <a:t>"User"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)</a:t>
            </a:r>
            <a:endParaRPr kumimoji="1" lang="ja-JP" altLang="en-US" dirty="0">
              <a:highlight>
                <a:srgbClr val="000000"/>
              </a:highlight>
            </a:endParaRPr>
          </a:p>
        </p:txBody>
      </p:sp>
      <p:sp>
        <p:nvSpPr>
          <p:cNvPr id="3" name="吹き出し: 角を丸めた四角形 2">
            <a:extLst>
              <a:ext uri="{FF2B5EF4-FFF2-40B4-BE49-F238E27FC236}">
                <a16:creationId xmlns:a16="http://schemas.microsoft.com/office/drawing/2014/main" id="{B07D7775-DBD9-61A2-5B34-4ABC22590AAD}"/>
              </a:ext>
            </a:extLst>
          </p:cNvPr>
          <p:cNvSpPr/>
          <p:nvPr/>
        </p:nvSpPr>
        <p:spPr>
          <a:xfrm>
            <a:off x="6974378" y="1078040"/>
            <a:ext cx="4779818" cy="612648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全部コピーして貼り付けで</a:t>
            </a:r>
            <a:r>
              <a:rPr kumimoji="1" lang="en-US" altLang="ja-JP" dirty="0"/>
              <a:t>OK</a:t>
            </a:r>
          </a:p>
          <a:p>
            <a:pPr algn="ctr"/>
            <a:r>
              <a:rPr lang="ja-JP" altLang="en-US" dirty="0"/>
              <a:t>少し時間かかる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C9DE601-A392-6984-89C8-6E25E339CC99}"/>
              </a:ext>
            </a:extLst>
          </p:cNvPr>
          <p:cNvSpPr txBox="1"/>
          <p:nvPr/>
        </p:nvSpPr>
        <p:spPr>
          <a:xfrm>
            <a:off x="449494" y="3280012"/>
            <a:ext cx="10980506" cy="175432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$</a:t>
            </a:r>
            <a:r>
              <a:rPr kumimoji="1" lang="en-US" altLang="ja-JP" dirty="0" err="1">
                <a:solidFill>
                  <a:schemeClr val="bg1"/>
                </a:solidFill>
              </a:rPr>
              <a:t>pyenvPath</a:t>
            </a:r>
            <a:r>
              <a:rPr kumimoji="1" lang="en-US" altLang="ja-JP" dirty="0">
                <a:solidFill>
                  <a:schemeClr val="bg1"/>
                </a:solidFill>
              </a:rPr>
              <a:t> = "$</a:t>
            </a:r>
            <a:r>
              <a:rPr kumimoji="1" lang="en-US" altLang="ja-JP" dirty="0" err="1">
                <a:solidFill>
                  <a:schemeClr val="bg1"/>
                </a:solidFill>
              </a:rPr>
              <a:t>env:USERPROFILE</a:t>
            </a:r>
            <a:r>
              <a:rPr kumimoji="1" lang="en-US" altLang="ja-JP" dirty="0">
                <a:solidFill>
                  <a:schemeClr val="bg1"/>
                </a:solidFill>
              </a:rPr>
              <a:t>\.</a:t>
            </a:r>
            <a:r>
              <a:rPr kumimoji="1" lang="en-US" altLang="ja-JP" dirty="0" err="1">
                <a:solidFill>
                  <a:schemeClr val="bg1"/>
                </a:solidFill>
              </a:rPr>
              <a:t>pyenv</a:t>
            </a:r>
            <a:r>
              <a:rPr kumimoji="1" lang="en-US" altLang="ja-JP" dirty="0">
                <a:solidFill>
                  <a:schemeClr val="bg1"/>
                </a:solidFill>
              </a:rPr>
              <a:t>\</a:t>
            </a:r>
            <a:r>
              <a:rPr kumimoji="1" lang="en-US" altLang="ja-JP" dirty="0" err="1">
                <a:solidFill>
                  <a:schemeClr val="bg1"/>
                </a:solidFill>
              </a:rPr>
              <a:t>pyenv</a:t>
            </a:r>
            <a:r>
              <a:rPr kumimoji="1" lang="en-US" altLang="ja-JP" dirty="0">
                <a:solidFill>
                  <a:schemeClr val="bg1"/>
                </a:solidFill>
              </a:rPr>
              <a:t>-win"</a:t>
            </a:r>
          </a:p>
          <a:p>
            <a:r>
              <a:rPr kumimoji="1" lang="en-US" altLang="ja-JP" dirty="0">
                <a:solidFill>
                  <a:schemeClr val="bg1"/>
                </a:solidFill>
              </a:rPr>
              <a:t>[Environment]::</a:t>
            </a:r>
            <a:r>
              <a:rPr kumimoji="1" lang="en-US" altLang="ja-JP" dirty="0" err="1">
                <a:solidFill>
                  <a:schemeClr val="bg1"/>
                </a:solidFill>
              </a:rPr>
              <a:t>SetEnvironmentVariable</a:t>
            </a:r>
            <a:r>
              <a:rPr kumimoji="1" lang="en-US" altLang="ja-JP" dirty="0">
                <a:solidFill>
                  <a:schemeClr val="bg1"/>
                </a:solidFill>
              </a:rPr>
              <a:t>(</a:t>
            </a:r>
          </a:p>
          <a:p>
            <a:r>
              <a:rPr kumimoji="1" lang="en-US" altLang="ja-JP" dirty="0">
                <a:solidFill>
                  <a:schemeClr val="bg1"/>
                </a:solidFill>
              </a:rPr>
              <a:t>  "PATH",</a:t>
            </a:r>
          </a:p>
          <a:p>
            <a:r>
              <a:rPr kumimoji="1" lang="en-US" altLang="ja-JP" dirty="0">
                <a:solidFill>
                  <a:schemeClr val="bg1"/>
                </a:solidFill>
              </a:rPr>
              <a:t>  "$</a:t>
            </a:r>
            <a:r>
              <a:rPr kumimoji="1" lang="en-US" altLang="ja-JP" dirty="0" err="1">
                <a:solidFill>
                  <a:schemeClr val="bg1"/>
                </a:solidFill>
              </a:rPr>
              <a:t>env:PATH</a:t>
            </a:r>
            <a:r>
              <a:rPr kumimoji="1" lang="en-US" altLang="ja-JP" dirty="0">
                <a:solidFill>
                  <a:schemeClr val="bg1"/>
                </a:solidFill>
              </a:rPr>
              <a:t>;$</a:t>
            </a:r>
            <a:r>
              <a:rPr kumimoji="1" lang="en-US" altLang="ja-JP" dirty="0" err="1">
                <a:solidFill>
                  <a:schemeClr val="bg1"/>
                </a:solidFill>
              </a:rPr>
              <a:t>pyenvPath</a:t>
            </a:r>
            <a:r>
              <a:rPr kumimoji="1" lang="en-US" altLang="ja-JP" dirty="0">
                <a:solidFill>
                  <a:schemeClr val="bg1"/>
                </a:solidFill>
              </a:rPr>
              <a:t>\bin;$</a:t>
            </a:r>
            <a:r>
              <a:rPr kumimoji="1" lang="en-US" altLang="ja-JP" dirty="0" err="1">
                <a:solidFill>
                  <a:schemeClr val="bg1"/>
                </a:solidFill>
              </a:rPr>
              <a:t>pyenvPath</a:t>
            </a:r>
            <a:r>
              <a:rPr kumimoji="1" lang="en-US" altLang="ja-JP" dirty="0">
                <a:solidFill>
                  <a:schemeClr val="bg1"/>
                </a:solidFill>
              </a:rPr>
              <a:t>\shims;$</a:t>
            </a:r>
            <a:r>
              <a:rPr kumimoji="1" lang="en-US" altLang="ja-JP" dirty="0" err="1">
                <a:solidFill>
                  <a:schemeClr val="bg1"/>
                </a:solidFill>
              </a:rPr>
              <a:t>pyenvPath</a:t>
            </a:r>
            <a:r>
              <a:rPr kumimoji="1" lang="en-US" altLang="ja-JP" dirty="0">
                <a:solidFill>
                  <a:schemeClr val="bg1"/>
                </a:solidFill>
              </a:rPr>
              <a:t>\</a:t>
            </a:r>
            <a:r>
              <a:rPr kumimoji="1" lang="en-US" altLang="ja-JP" dirty="0" err="1">
                <a:solidFill>
                  <a:schemeClr val="bg1"/>
                </a:solidFill>
              </a:rPr>
              <a:t>libexec</a:t>
            </a:r>
            <a:r>
              <a:rPr kumimoji="1" lang="en-US" altLang="ja-JP" dirty="0">
                <a:solidFill>
                  <a:schemeClr val="bg1"/>
                </a:solidFill>
              </a:rPr>
              <a:t>",</a:t>
            </a:r>
          </a:p>
          <a:p>
            <a:r>
              <a:rPr kumimoji="1" lang="en-US" altLang="ja-JP" dirty="0">
                <a:solidFill>
                  <a:schemeClr val="bg1"/>
                </a:solidFill>
              </a:rPr>
              <a:t>  [</a:t>
            </a:r>
            <a:r>
              <a:rPr kumimoji="1" lang="en-US" altLang="ja-JP" dirty="0" err="1">
                <a:solidFill>
                  <a:schemeClr val="bg1"/>
                </a:solidFill>
              </a:rPr>
              <a:t>System.EnvironmentVariableTarget</a:t>
            </a:r>
            <a:r>
              <a:rPr kumimoji="1" lang="en-US" altLang="ja-JP" dirty="0">
                <a:solidFill>
                  <a:schemeClr val="bg1"/>
                </a:solidFill>
              </a:rPr>
              <a:t>]::User</a:t>
            </a:r>
          </a:p>
          <a:p>
            <a:r>
              <a:rPr kumimoji="1" lang="en-US" altLang="ja-JP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77336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29DD3B-9301-44E2-9F45-EAF6EDC70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pyenv</a:t>
            </a:r>
            <a:r>
              <a:rPr kumimoji="1" lang="ja-JP" altLang="en-US" dirty="0"/>
              <a:t>のインストール</a:t>
            </a:r>
            <a:endParaRPr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15A4828-0C64-4EB3-B7AD-75DCE7B5AF88}"/>
              </a:ext>
            </a:extLst>
          </p:cNvPr>
          <p:cNvSpPr txBox="1"/>
          <p:nvPr/>
        </p:nvSpPr>
        <p:spPr>
          <a:xfrm>
            <a:off x="5257800" y="252996"/>
            <a:ext cx="67774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https://qiita.com/probabilityhill/items/9a22f395a1e93206c846#zip-%E3%83%95%E3%82%A1%E3%82%A4%E3%83%AB%E3%82%92%E4%BD%BF%E7%94%A8</a:t>
            </a:r>
            <a:endParaRPr lang="ja-JP" altLang="en-US" sz="12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E21C5DB-6686-4841-BB28-B7DED0A9FE7F}"/>
              </a:ext>
            </a:extLst>
          </p:cNvPr>
          <p:cNvSpPr txBox="1"/>
          <p:nvPr/>
        </p:nvSpPr>
        <p:spPr>
          <a:xfrm>
            <a:off x="1054359" y="1558212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コマンドプロンプトで確認</a:t>
            </a:r>
            <a:endParaRPr kumimoji="1" lang="en-US" altLang="ja-JP" dirty="0"/>
          </a:p>
          <a:p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&gt; </a:t>
            </a:r>
            <a:r>
              <a:rPr lang="en-US" altLang="ja-JP" b="0" i="0" dirty="0" err="1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pyenv</a:t>
            </a:r>
            <a:r>
              <a:rPr lang="en-US" altLang="ja-JP" b="0" i="0" dirty="0">
                <a:solidFill>
                  <a:srgbClr val="E3E3E3"/>
                </a:solidFill>
                <a:effectLst/>
                <a:highlight>
                  <a:srgbClr val="000000"/>
                </a:highlight>
                <a:latin typeface="Ricty Diminished"/>
              </a:rPr>
              <a:t> --</a:t>
            </a:r>
            <a:r>
              <a:rPr lang="en-US" altLang="ja-JP" b="0" i="0" dirty="0">
                <a:solidFill>
                  <a:srgbClr val="FF8095"/>
                </a:solidFill>
                <a:effectLst/>
                <a:highlight>
                  <a:srgbClr val="000000"/>
                </a:highlight>
                <a:latin typeface="Ricty Diminished"/>
              </a:rPr>
              <a:t>version</a:t>
            </a:r>
            <a:endParaRPr kumimoji="1" lang="ja-JP" altLang="en-US" dirty="0"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15788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21E03B-2224-4E42-9FCB-9262A3446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855"/>
          </a:xfrm>
        </p:spPr>
        <p:txBody>
          <a:bodyPr/>
          <a:lstStyle/>
          <a:p>
            <a:r>
              <a:rPr lang="en-US" altLang="ja-JP" dirty="0" err="1"/>
              <a:t>pyenv</a:t>
            </a:r>
            <a:r>
              <a:rPr lang="en-US" altLang="ja-JP" dirty="0"/>
              <a:t> + </a:t>
            </a:r>
            <a:r>
              <a:rPr lang="en-US" altLang="ja-JP" dirty="0" err="1"/>
              <a:t>venv</a:t>
            </a:r>
            <a:r>
              <a:rPr lang="ja-JP" altLang="en-US" dirty="0"/>
              <a:t>で環境構築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EF113A6-0F96-445B-BA0F-F88CFEC9C588}"/>
              </a:ext>
            </a:extLst>
          </p:cNvPr>
          <p:cNvSpPr txBox="1"/>
          <p:nvPr/>
        </p:nvSpPr>
        <p:spPr>
          <a:xfrm>
            <a:off x="838200" y="1441357"/>
            <a:ext cx="89456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&gt; G:</a:t>
            </a:r>
          </a:p>
          <a:p>
            <a:r>
              <a:rPr kumimoji="1" lang="en-US" altLang="ja-JP" dirty="0"/>
              <a:t>&gt; cd G:\work\GAIA\EDSR-PyTorch</a:t>
            </a:r>
          </a:p>
          <a:p>
            <a:r>
              <a:rPr kumimoji="1" lang="en-US" altLang="ja-JP" dirty="0"/>
              <a:t>&gt; </a:t>
            </a:r>
            <a:r>
              <a:rPr lang="en-US" altLang="ja-JP" dirty="0" err="1"/>
              <a:t>p</a:t>
            </a:r>
            <a:r>
              <a:rPr kumimoji="1" lang="en-US" altLang="ja-JP" dirty="0" err="1"/>
              <a:t>yenv</a:t>
            </a:r>
            <a:r>
              <a:rPr kumimoji="1" lang="en-US" altLang="ja-JP" dirty="0"/>
              <a:t> install 3.10.11</a:t>
            </a:r>
          </a:p>
          <a:p>
            <a:r>
              <a:rPr kumimoji="1" lang="en-US" altLang="ja-JP" dirty="0"/>
              <a:t>&gt; </a:t>
            </a:r>
            <a:r>
              <a:rPr lang="en-US" altLang="ja-JP" dirty="0" err="1"/>
              <a:t>p</a:t>
            </a:r>
            <a:r>
              <a:rPr kumimoji="1" lang="en-US" altLang="ja-JP" dirty="0" err="1"/>
              <a:t>yenv</a:t>
            </a:r>
            <a:r>
              <a:rPr kumimoji="1" lang="en-US" altLang="ja-JP" dirty="0"/>
              <a:t> local 3.1</a:t>
            </a:r>
            <a:r>
              <a:rPr lang="en-US" altLang="ja-JP" dirty="0"/>
              <a:t>0</a:t>
            </a:r>
            <a:r>
              <a:rPr kumimoji="1" lang="en-US" altLang="ja-JP" dirty="0"/>
              <a:t>.11</a:t>
            </a:r>
          </a:p>
          <a:p>
            <a:r>
              <a:rPr lang="en-US" altLang="ja-JP" dirty="0"/>
              <a:t>&gt; python --version</a:t>
            </a:r>
          </a:p>
          <a:p>
            <a:endParaRPr kumimoji="1" lang="ja-JP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9C25D14-2782-4399-96AB-CA62191D5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247" y="3232307"/>
            <a:ext cx="5638800" cy="2990850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B3C20C2-E9EB-4457-A515-A0BE3816DA73}"/>
              </a:ext>
            </a:extLst>
          </p:cNvPr>
          <p:cNvSpPr txBox="1"/>
          <p:nvPr/>
        </p:nvSpPr>
        <p:spPr>
          <a:xfrm>
            <a:off x="7510584" y="155259"/>
            <a:ext cx="3649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https://topcon-hqectech.atlassian.net/wiki/spaces/P/pages/19464193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7AE08E93-A924-4886-8BB2-34F2D0624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385" y="2910975"/>
            <a:ext cx="5144218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773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D8A083-1882-4A12-84CE-3FD4BF8C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pyenv</a:t>
            </a:r>
            <a:r>
              <a:rPr lang="en-US" altLang="ja-JP" dirty="0"/>
              <a:t> + </a:t>
            </a:r>
            <a:r>
              <a:rPr lang="en-US" altLang="ja-JP" dirty="0" err="1"/>
              <a:t>venv</a:t>
            </a:r>
            <a:r>
              <a:rPr lang="ja-JP" altLang="en-US" dirty="0"/>
              <a:t>で環境構築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51E7B5C-B2E6-451B-A0CE-7D77DAF41112}"/>
              </a:ext>
            </a:extLst>
          </p:cNvPr>
          <p:cNvSpPr txBox="1"/>
          <p:nvPr/>
        </p:nvSpPr>
        <p:spPr>
          <a:xfrm>
            <a:off x="838200" y="169068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&gt; python -m </a:t>
            </a:r>
            <a:r>
              <a:rPr lang="en-US" altLang="ja-JP" dirty="0" err="1"/>
              <a:t>venv</a:t>
            </a:r>
            <a:r>
              <a:rPr lang="en-US" altLang="ja-JP" dirty="0"/>
              <a:t> .</a:t>
            </a:r>
            <a:r>
              <a:rPr lang="en-US" altLang="ja-JP" dirty="0" err="1"/>
              <a:t>venv</a:t>
            </a:r>
            <a:endParaRPr lang="en-US" altLang="ja-JP" dirty="0"/>
          </a:p>
          <a:p>
            <a:r>
              <a:rPr lang="ja-JP" altLang="en-US" dirty="0"/>
              <a:t>&gt;.\.venv\Scripts\activate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138A25A-D741-4D64-9928-C64AE9C8B1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390"/>
          <a:stretch/>
        </p:blipFill>
        <p:spPr>
          <a:xfrm>
            <a:off x="715108" y="3093157"/>
            <a:ext cx="5638800" cy="646331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9A53C82-866D-4215-B599-C600558A8AF7}"/>
              </a:ext>
            </a:extLst>
          </p:cNvPr>
          <p:cNvSpPr txBox="1"/>
          <p:nvPr/>
        </p:nvSpPr>
        <p:spPr>
          <a:xfrm>
            <a:off x="838200" y="25566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0" i="0" dirty="0">
                <a:solidFill>
                  <a:srgbClr val="172B4D"/>
                </a:solidFill>
                <a:effectLst/>
                <a:latin typeface="SFMono-Medium"/>
              </a:rPr>
              <a:t>&gt; pip install -r requirements.txt</a:t>
            </a:r>
            <a:endParaRPr lang="ja-JP" alt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BDD47510-3C00-48A9-A151-F087B5132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486" y="1553923"/>
            <a:ext cx="6828305" cy="475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695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4">
            <a:extLst>
              <a:ext uri="{FF2B5EF4-FFF2-40B4-BE49-F238E27FC236}">
                <a16:creationId xmlns:a16="http://schemas.microsoft.com/office/drawing/2014/main" id="{0AEA6A37-BC2C-4021-87BD-6D6221F1D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415510"/>
              </p:ext>
            </p:extLst>
          </p:nvPr>
        </p:nvGraphicFramePr>
        <p:xfrm>
          <a:off x="530459" y="652289"/>
          <a:ext cx="10692598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3221">
                  <a:extLst>
                    <a:ext uri="{9D8B030D-6E8A-4147-A177-3AD203B41FA5}">
                      <a16:colId xmlns:a16="http://schemas.microsoft.com/office/drawing/2014/main" val="4045987131"/>
                    </a:ext>
                  </a:extLst>
                </a:gridCol>
                <a:gridCol w="2640938">
                  <a:extLst>
                    <a:ext uri="{9D8B030D-6E8A-4147-A177-3AD203B41FA5}">
                      <a16:colId xmlns:a16="http://schemas.microsoft.com/office/drawing/2014/main" val="569208552"/>
                    </a:ext>
                  </a:extLst>
                </a:gridCol>
                <a:gridCol w="1998439">
                  <a:extLst>
                    <a:ext uri="{9D8B030D-6E8A-4147-A177-3AD203B41FA5}">
                      <a16:colId xmlns:a16="http://schemas.microsoft.com/office/drawing/2014/main" val="3004500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195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dirty="0" err="1"/>
                        <a:t>conda</a:t>
                      </a:r>
                      <a:r>
                        <a:rPr kumimoji="1" lang="en-US" altLang="ja-JP" sz="1400" dirty="0"/>
                        <a:t> env list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開発環境のリスト表示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630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conda</a:t>
                      </a:r>
                      <a:r>
                        <a:rPr kumimoji="1" lang="en-US" altLang="ja-JP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create -n &lt;</a:t>
                      </a:r>
                      <a:r>
                        <a:rPr kumimoji="1" lang="ja-JP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新しい環境名</a:t>
                      </a:r>
                      <a:r>
                        <a:rPr kumimoji="1" lang="en-US" altLang="ja-JP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ja-JP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ja-JP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--clone &lt;</a:t>
                      </a:r>
                      <a:r>
                        <a:rPr kumimoji="1" lang="ja-JP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複製したいベースの環境名</a:t>
                      </a:r>
                      <a:r>
                        <a:rPr kumimoji="1" lang="en-US" altLang="ja-JP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/>
                        <a:t>Conda</a:t>
                      </a:r>
                      <a:r>
                        <a:rPr kumimoji="1" lang="en-US" altLang="ja-JP" sz="1400" dirty="0"/>
                        <a:t> create –n </a:t>
                      </a:r>
                      <a:r>
                        <a:rPr kumimoji="1" lang="en-US" altLang="ja-JP" sz="1400" dirty="0" err="1"/>
                        <a:t>gaia</a:t>
                      </a:r>
                      <a:r>
                        <a:rPr kumimoji="1" lang="en-US" altLang="ja-JP" sz="1400" dirty="0"/>
                        <a:t> –clone base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007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strike="sngStrike" baseline="0" dirty="0"/>
                        <a:t>pip</a:t>
                      </a:r>
                      <a:r>
                        <a:rPr kumimoji="1" lang="en-US" altLang="ja-JP" sz="1400" strike="sngStrike" dirty="0"/>
                        <a:t> install </a:t>
                      </a:r>
                      <a:r>
                        <a:rPr kumimoji="1" lang="en-US" altLang="ja-JP" sz="1400" strike="sngStrike" dirty="0" err="1"/>
                        <a:t>tensorflow-gpu</a:t>
                      </a:r>
                      <a:endParaRPr kumimoji="1" lang="en-US" altLang="ja-JP" sz="1400" strike="sngStrike" dirty="0"/>
                    </a:p>
                    <a:p>
                      <a:r>
                        <a:rPr kumimoji="1" lang="en-US" altLang="ja-JP" sz="1400" dirty="0"/>
                        <a:t>pip install </a:t>
                      </a:r>
                      <a:r>
                        <a:rPr kumimoji="1" lang="en-US" altLang="ja-JP" sz="1400" dirty="0" err="1"/>
                        <a:t>tensorflow-gpu</a:t>
                      </a:r>
                      <a:r>
                        <a:rPr kumimoji="1" lang="en-US" altLang="ja-JP" sz="1400" dirty="0"/>
                        <a:t>==2.8.3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GPU</a:t>
                      </a:r>
                      <a:r>
                        <a:rPr kumimoji="1" lang="ja-JP" altLang="en-US" sz="1400" dirty="0"/>
                        <a:t>のインストール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※2.10.0</a:t>
                      </a:r>
                      <a:r>
                        <a:rPr kumimoji="1" lang="ja-JP" altLang="en-US" sz="1400" dirty="0"/>
                        <a:t>だと</a:t>
                      </a:r>
                      <a:endParaRPr kumimoji="1" lang="en-US" altLang="ja-JP" sz="1400" dirty="0"/>
                    </a:p>
                    <a:p>
                      <a:r>
                        <a:rPr kumimoji="1" lang="en-US" altLang="ja-JP" sz="1400" dirty="0"/>
                        <a:t>GPU</a:t>
                      </a:r>
                      <a:r>
                        <a:rPr kumimoji="1" lang="ja-JP" altLang="en-US" sz="1400" dirty="0"/>
                        <a:t>認識しなかった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893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Activate &lt;</a:t>
                      </a:r>
                      <a:r>
                        <a:rPr kumimoji="1" lang="ja-JP" altLang="en-US" sz="1400" dirty="0"/>
                        <a:t>環境名</a:t>
                      </a:r>
                      <a:r>
                        <a:rPr kumimoji="1" lang="en-US" altLang="ja-JP" sz="1400" dirty="0"/>
                        <a:t>&gt;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環境の切り替え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40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Import sys</a:t>
                      </a:r>
                    </a:p>
                    <a:p>
                      <a:r>
                        <a:rPr kumimoji="1" lang="en-US" altLang="ja-JP" sz="1400" dirty="0" err="1"/>
                        <a:t>Sys.exit</a:t>
                      </a:r>
                      <a:r>
                        <a:rPr kumimoji="1" lang="en-US" altLang="ja-JP" sz="1400" dirty="0"/>
                        <a:t>()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Python</a:t>
                      </a:r>
                      <a:r>
                        <a:rPr kumimoji="1" lang="ja-JP" altLang="en-US" sz="1400" dirty="0"/>
                        <a:t>の終了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240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from </a:t>
                      </a:r>
                      <a:r>
                        <a:rPr kumimoji="1" lang="en-US" altLang="ja-JP" sz="1400" dirty="0" err="1"/>
                        <a:t>tensorflow.python</a:t>
                      </a:r>
                      <a:r>
                        <a:rPr kumimoji="1" lang="en-US" altLang="ja-JP" sz="1400" dirty="0"/>
                        <a:t> import client</a:t>
                      </a:r>
                    </a:p>
                    <a:p>
                      <a:r>
                        <a:rPr kumimoji="1" lang="en-US" altLang="ja-JP" sz="1400" dirty="0" err="1"/>
                        <a:t>client.device_lib.list_local_devices</a:t>
                      </a:r>
                      <a:r>
                        <a:rPr kumimoji="1" lang="en-US" altLang="ja-JP" sz="1400" dirty="0"/>
                        <a:t>()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GPU</a:t>
                      </a:r>
                      <a:r>
                        <a:rPr kumimoji="1" lang="ja-JP" altLang="en-US" sz="1400" dirty="0"/>
                        <a:t>の確認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654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import </a:t>
                      </a:r>
                      <a:r>
                        <a:rPr kumimoji="1" lang="en-US" altLang="ja-JP" sz="1400" dirty="0" err="1"/>
                        <a:t>tensorflow</a:t>
                      </a:r>
                      <a:r>
                        <a:rPr kumimoji="1" lang="en-US" altLang="ja-JP" sz="1400" dirty="0"/>
                        <a:t> as </a:t>
                      </a:r>
                      <a:r>
                        <a:rPr kumimoji="1" lang="en-US" altLang="ja-JP" sz="1400" dirty="0" err="1"/>
                        <a:t>tf</a:t>
                      </a:r>
                      <a:endParaRPr kumimoji="1" lang="en-US" altLang="ja-JP" sz="1400" dirty="0"/>
                    </a:p>
                    <a:p>
                      <a:r>
                        <a:rPr kumimoji="1" lang="en-US" altLang="ja-JP" sz="1400" dirty="0"/>
                        <a:t>print(</a:t>
                      </a:r>
                      <a:r>
                        <a:rPr kumimoji="1" lang="en-US" altLang="ja-JP" sz="1400" dirty="0" err="1"/>
                        <a:t>tf</a:t>
                      </a:r>
                      <a:r>
                        <a:rPr kumimoji="1" lang="en-US" altLang="ja-JP" sz="1400" dirty="0"/>
                        <a:t>.__version__) # 1.5.0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/>
                        <a:t>Tensorflow</a:t>
                      </a:r>
                      <a:r>
                        <a:rPr kumimoji="1" lang="ja-JP" altLang="en-US" sz="1400" dirty="0"/>
                        <a:t>バージョン確認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101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pip install update </a:t>
                      </a:r>
                      <a:r>
                        <a:rPr kumimoji="1" lang="en-US" altLang="ja-JP" sz="1400" dirty="0" err="1"/>
                        <a:t>spyder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Spyder</a:t>
                      </a:r>
                      <a:r>
                        <a:rPr kumimoji="1" lang="ja-JP" altLang="en-US" sz="1400" dirty="0"/>
                        <a:t>起動しなくなった場合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565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pip list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インストールリスト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978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2272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D97D7ED4-D18F-4F8A-A850-92A05C562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GPU</a:t>
            </a:r>
            <a:r>
              <a:rPr lang="ja-JP" altLang="en-US" dirty="0"/>
              <a:t>環境の構築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C9A63B3-28CE-483E-BD94-762E2857C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47683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89A684-6EF2-47C8-856A-9E74A5D37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GPU</a:t>
            </a:r>
            <a:r>
              <a:rPr lang="ja-JP" altLang="en-US" dirty="0"/>
              <a:t>ドライバのインストール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64EE8D-AE3C-431B-834B-A674A4B6D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dirty="0"/>
              <a:t>NVIDIA GeForce RTX 3060 </a:t>
            </a:r>
            <a:r>
              <a:rPr lang="en-US" altLang="ja-JP" dirty="0" err="1"/>
              <a:t>Ti</a:t>
            </a:r>
            <a:r>
              <a:rPr lang="ja-JP" altLang="en-US" dirty="0"/>
              <a:t>のドライバ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C0C582-A5D6-4A75-8BCC-8A5B44C77D02}"/>
              </a:ext>
            </a:extLst>
          </p:cNvPr>
          <p:cNvSpPr txBox="1"/>
          <p:nvPr/>
        </p:nvSpPr>
        <p:spPr>
          <a:xfrm>
            <a:off x="951580" y="2434716"/>
            <a:ext cx="6410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hlinkClick r:id="rId2"/>
              </a:rPr>
              <a:t>https://www.nvidia.co.jp/Download/index.aspx?lang=jp#</a:t>
            </a:r>
            <a:endParaRPr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81621B5-9E16-44E5-867F-27823C3A9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758" y="3105629"/>
            <a:ext cx="7033262" cy="2643495"/>
          </a:xfrm>
          <a:prstGeom prst="rect">
            <a:avLst/>
          </a:prstGeom>
          <a:ln>
            <a:solidFill>
              <a:schemeClr val="accent3"/>
            </a:solidFill>
          </a:ln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465D3C6B-9824-4F81-9EA2-6B6E10E2B30A}"/>
              </a:ext>
            </a:extLst>
          </p:cNvPr>
          <p:cNvSpPr/>
          <p:nvPr/>
        </p:nvSpPr>
        <p:spPr>
          <a:xfrm>
            <a:off x="3070371" y="5361761"/>
            <a:ext cx="536895" cy="25886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FC6F8B7D-2EF7-4256-9006-EBCE62254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752" y="3405933"/>
            <a:ext cx="4910356" cy="3380121"/>
          </a:xfrm>
          <a:prstGeom prst="rect">
            <a:avLst/>
          </a:prstGeom>
          <a:ln>
            <a:solidFill>
              <a:schemeClr val="accent3"/>
            </a:solidFill>
          </a:ln>
        </p:spPr>
      </p:pic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01B065D-3B99-4354-A311-F7C959C9FE6A}"/>
              </a:ext>
            </a:extLst>
          </p:cNvPr>
          <p:cNvSpPr/>
          <p:nvPr/>
        </p:nvSpPr>
        <p:spPr>
          <a:xfrm>
            <a:off x="7046752" y="4400079"/>
            <a:ext cx="897622" cy="2809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9910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9EEAB7B-3C29-48EB-BCED-77CBA218C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3" y="330289"/>
            <a:ext cx="5271255" cy="276524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C0C53C2-65C8-4EEC-AF93-E71309B73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218" y="1647913"/>
            <a:ext cx="565785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420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867CA697-5AE8-40FE-B960-01BD686C6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CUDA toolkit</a:t>
            </a:r>
            <a:r>
              <a:rPr lang="ja-JP" altLang="en-US" dirty="0"/>
              <a:t>のインストール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30108AA-0179-43E3-8AA5-DADF76ACD1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r="52335" b="87094"/>
          <a:stretch/>
        </p:blipFill>
        <p:spPr>
          <a:xfrm>
            <a:off x="567989" y="1652563"/>
            <a:ext cx="3931935" cy="732828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8FB3E09-FCE8-43CA-8CE1-2930DD252D5E}"/>
              </a:ext>
            </a:extLst>
          </p:cNvPr>
          <p:cNvSpPr txBox="1"/>
          <p:nvPr/>
        </p:nvSpPr>
        <p:spPr>
          <a:xfrm>
            <a:off x="715162" y="2646537"/>
            <a:ext cx="609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https://docs.nvidia.com/cuda/cuda-toolkit-release-notes/index.html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AD4C2A5A-C643-4332-B087-0F22DB5EF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4" y="3690967"/>
            <a:ext cx="7354326" cy="2238687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521794F-58DE-41A9-9AFE-D433AB4482B4}"/>
              </a:ext>
            </a:extLst>
          </p:cNvPr>
          <p:cNvSpPr/>
          <p:nvPr/>
        </p:nvSpPr>
        <p:spPr>
          <a:xfrm>
            <a:off x="2380284" y="1970287"/>
            <a:ext cx="969203" cy="4362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A861F392-B025-452B-A4F8-4B6E74406349}"/>
              </a:ext>
            </a:extLst>
          </p:cNvPr>
          <p:cNvSpPr/>
          <p:nvPr/>
        </p:nvSpPr>
        <p:spPr>
          <a:xfrm>
            <a:off x="353598" y="4740965"/>
            <a:ext cx="7288762" cy="19878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8895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4C60085D-F4A9-4E0C-AAA7-F3F8AC330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11" y="160704"/>
            <a:ext cx="5657850" cy="42291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1F483B6F-814B-4C0B-AE0A-DBCABD2BA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075" y="1314450"/>
            <a:ext cx="5657850" cy="42291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981F0C93-456A-4B2E-A476-67FAE8909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461" y="2275254"/>
            <a:ext cx="5657850" cy="42291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B3CF85F4-8B26-4ABC-957E-576A57DCA6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2545" y="3322154"/>
            <a:ext cx="5657850" cy="42291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4EBDF666-B03B-4473-945F-DA3BECFC57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4107" y="4157041"/>
            <a:ext cx="565785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847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12D513C-0A52-47E9-A851-8F512F99B12E}"/>
              </a:ext>
            </a:extLst>
          </p:cNvPr>
          <p:cNvSpPr txBox="1"/>
          <p:nvPr/>
        </p:nvSpPr>
        <p:spPr>
          <a:xfrm>
            <a:off x="424897" y="531600"/>
            <a:ext cx="7427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https://developer.nvidia.com/accelerated-computing-toolkit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198DC1E-FC18-4EA0-80AE-10CDBA15E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16" y="1047418"/>
            <a:ext cx="3704493" cy="2035435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F1B597D1-3B04-454D-901B-18B59296E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16" y="3229339"/>
            <a:ext cx="6586330" cy="338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525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2FA5E3-04C2-41AD-BC20-07CEE7021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cuDNN</a:t>
            </a:r>
            <a:r>
              <a:rPr lang="ja-JP" altLang="en-US" dirty="0"/>
              <a:t>のインストール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106728B-1EEF-4193-81CC-0C54C53C4C78}"/>
              </a:ext>
            </a:extLst>
          </p:cNvPr>
          <p:cNvSpPr txBox="1"/>
          <p:nvPr/>
        </p:nvSpPr>
        <p:spPr>
          <a:xfrm>
            <a:off x="838200" y="1690688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https://developer.nvidia.com/cudnn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61830F0-E71F-4E27-8ED8-7E5941C4D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16" y="2379358"/>
            <a:ext cx="5911268" cy="175367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6D17F82C-6EAA-4D25-8FFD-A8F2BA236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44434"/>
            <a:ext cx="7143720" cy="2578801"/>
          </a:xfrm>
          <a:prstGeom prst="rect">
            <a:avLst/>
          </a:prstGeom>
        </p:spPr>
      </p:pic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EEFEF7C-FC81-4C7C-9F96-B59C00F346CF}"/>
              </a:ext>
            </a:extLst>
          </p:cNvPr>
          <p:cNvSpPr/>
          <p:nvPr/>
        </p:nvSpPr>
        <p:spPr>
          <a:xfrm>
            <a:off x="2310710" y="3656989"/>
            <a:ext cx="969203" cy="4362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19D86DF-E915-46B1-A877-80990553E8E7}"/>
              </a:ext>
            </a:extLst>
          </p:cNvPr>
          <p:cNvSpPr/>
          <p:nvPr/>
        </p:nvSpPr>
        <p:spPr>
          <a:xfrm>
            <a:off x="916916" y="5861770"/>
            <a:ext cx="2929527" cy="34024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45865A30-544F-4F1C-9C7C-0E41CD3C6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739" y="4033668"/>
            <a:ext cx="5356739" cy="2168349"/>
          </a:xfrm>
          <a:prstGeom prst="rect">
            <a:avLst/>
          </a:prstGeom>
        </p:spPr>
      </p:pic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3D3903FF-D9E7-49CB-A3C8-09A23F87C4BD}"/>
              </a:ext>
            </a:extLst>
          </p:cNvPr>
          <p:cNvSpPr/>
          <p:nvPr/>
        </p:nvSpPr>
        <p:spPr>
          <a:xfrm>
            <a:off x="6321739" y="4827065"/>
            <a:ext cx="2156339" cy="34024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4824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A8643CE6-BA2F-4891-B1D2-140A32102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40" y="741906"/>
            <a:ext cx="4084074" cy="261752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D92E2A8-D1A2-43DF-B3E3-67E086EC3977}"/>
              </a:ext>
            </a:extLst>
          </p:cNvPr>
          <p:cNvSpPr txBox="1"/>
          <p:nvPr/>
        </p:nvSpPr>
        <p:spPr>
          <a:xfrm>
            <a:off x="385140" y="303000"/>
            <a:ext cx="8828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Hiragino Kaku Gothic ProN"/>
              </a:rPr>
              <a:t>解凍したフォルダ内には「</a:t>
            </a:r>
            <a:r>
              <a:rPr lang="en-US" altLang="ja-JP" b="0" i="0" dirty="0">
                <a:solidFill>
                  <a:srgbClr val="000000"/>
                </a:solidFill>
                <a:effectLst/>
                <a:latin typeface="Hiragino Kaku Gothic ProN"/>
              </a:rPr>
              <a:t>bin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Hiragino Kaku Gothic ProN"/>
              </a:rPr>
              <a:t>」「</a:t>
            </a:r>
            <a:r>
              <a:rPr lang="en-US" altLang="ja-JP" b="0" i="0" dirty="0">
                <a:solidFill>
                  <a:srgbClr val="000000"/>
                </a:solidFill>
                <a:effectLst/>
                <a:latin typeface="Hiragino Kaku Gothic ProN"/>
              </a:rPr>
              <a:t>include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Hiragino Kaku Gothic ProN"/>
              </a:rPr>
              <a:t>」「</a:t>
            </a:r>
            <a:r>
              <a:rPr lang="en-US" altLang="ja-JP" b="0" i="0" dirty="0">
                <a:solidFill>
                  <a:srgbClr val="000000"/>
                </a:solidFill>
                <a:effectLst/>
                <a:latin typeface="Hiragino Kaku Gothic ProN"/>
              </a:rPr>
              <a:t>lib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Hiragino Kaku Gothic ProN"/>
              </a:rPr>
              <a:t>」の</a:t>
            </a:r>
            <a:r>
              <a:rPr lang="en-US" altLang="ja-JP" b="0" i="0" dirty="0">
                <a:solidFill>
                  <a:srgbClr val="000000"/>
                </a:solidFill>
                <a:effectLst/>
                <a:latin typeface="Hiragino Kaku Gothic ProN"/>
              </a:rPr>
              <a:t>3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Hiragino Kaku Gothic ProN"/>
              </a:rPr>
              <a:t>つのフォルダが出来上がります。</a:t>
            </a:r>
            <a:endParaRPr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2DBFDAC-74CC-4846-A2C3-C63B4461DF47}"/>
              </a:ext>
            </a:extLst>
          </p:cNvPr>
          <p:cNvSpPr txBox="1"/>
          <p:nvPr/>
        </p:nvSpPr>
        <p:spPr>
          <a:xfrm>
            <a:off x="255931" y="3498575"/>
            <a:ext cx="96434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b="0" i="0" dirty="0">
                <a:solidFill>
                  <a:srgbClr val="000000"/>
                </a:solidFill>
                <a:effectLst/>
                <a:latin typeface="Hiragino Kaku Gothic ProN"/>
              </a:rPr>
              <a:t>それらフォルダの中身を</a:t>
            </a:r>
            <a:r>
              <a:rPr lang="en-US" altLang="ja-JP" b="0" i="0" dirty="0" err="1">
                <a:solidFill>
                  <a:srgbClr val="000000"/>
                </a:solidFill>
                <a:effectLst/>
                <a:latin typeface="Hiragino Kaku Gothic ProN"/>
              </a:rPr>
              <a:t>Cuda</a:t>
            </a:r>
            <a:r>
              <a:rPr lang="en-US" altLang="ja-JP" b="0" i="0" dirty="0">
                <a:solidFill>
                  <a:srgbClr val="000000"/>
                </a:solidFill>
                <a:effectLst/>
                <a:latin typeface="Hiragino Kaku Gothic ProN"/>
              </a:rPr>
              <a:t> Toolkit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Hiragino Kaku Gothic ProN"/>
              </a:rPr>
              <a:t>のフォルダにコピーします。</a:t>
            </a:r>
          </a:p>
          <a:p>
            <a:pPr algn="l"/>
            <a:r>
              <a:rPr lang="en-US" altLang="ja-JP" b="0" i="0" dirty="0" err="1">
                <a:solidFill>
                  <a:srgbClr val="000000"/>
                </a:solidFill>
                <a:effectLst/>
                <a:latin typeface="Hiragino Kaku Gothic ProN"/>
              </a:rPr>
              <a:t>Cuda</a:t>
            </a:r>
            <a:r>
              <a:rPr lang="en-US" altLang="ja-JP" b="0" i="0" dirty="0">
                <a:solidFill>
                  <a:srgbClr val="000000"/>
                </a:solidFill>
                <a:effectLst/>
                <a:latin typeface="Hiragino Kaku Gothic ProN"/>
              </a:rPr>
              <a:t> Toolkit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Hiragino Kaku Gothic ProN"/>
              </a:rPr>
              <a:t>のフォルダはデフォルトでインストールしているのなら</a:t>
            </a:r>
          </a:p>
          <a:p>
            <a:pPr algn="l"/>
            <a:r>
              <a:rPr lang="en-US" altLang="ja-JP" b="0" i="0" dirty="0">
                <a:solidFill>
                  <a:srgbClr val="000000"/>
                </a:solidFill>
                <a:effectLst/>
                <a:latin typeface="Hiragino Kaku Gothic ProN"/>
              </a:rPr>
              <a:t>C:\Program Files\NVIDIA GPU Computing Toolkit\CUDA\v11.8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14A87789-CA82-44C9-AE4A-99F3A97DC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749" y="3320820"/>
            <a:ext cx="4871780" cy="330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433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F479B8-D037-46ED-A55C-9D00994A1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GPU</a:t>
            </a:r>
            <a:r>
              <a:rPr lang="ja-JP" altLang="en-US" dirty="0"/>
              <a:t>デバイスの確認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F1C75AF-4C84-43A4-9C70-667355B69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29" y="1352260"/>
            <a:ext cx="10688542" cy="415348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5B25D1C-6700-4883-8FC9-AFC21006A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099" y="5168715"/>
            <a:ext cx="8802328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439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13DAAE-1BE7-4AAE-979A-9D502F1FE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zlib</a:t>
            </a:r>
            <a:r>
              <a:rPr kumimoji="1" lang="ja-JP" altLang="en-US" dirty="0"/>
              <a:t>のインストール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7AE065D-40DB-4502-A024-1F5C7242337D}"/>
              </a:ext>
            </a:extLst>
          </p:cNvPr>
          <p:cNvSpPr txBox="1"/>
          <p:nvPr/>
        </p:nvSpPr>
        <p:spPr>
          <a:xfrm>
            <a:off x="312490" y="1473475"/>
            <a:ext cx="609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https://docs.nvidia.com/deeplearning/cudnn/install-guide/index.html#install-zlib-windows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111C9EB-BB37-4F0E-A23E-0FD806296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79" y="2283735"/>
            <a:ext cx="11260121" cy="1743318"/>
          </a:xfrm>
          <a:prstGeom prst="rect">
            <a:avLst/>
          </a:prstGeom>
        </p:spPr>
      </p:pic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953368C-2416-4C4B-91C9-F1CA3204D9E2}"/>
              </a:ext>
            </a:extLst>
          </p:cNvPr>
          <p:cNvSpPr/>
          <p:nvPr/>
        </p:nvSpPr>
        <p:spPr>
          <a:xfrm>
            <a:off x="3359791" y="3150066"/>
            <a:ext cx="650604" cy="27893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9A0B636-6BD5-47DF-8340-572416DE2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94" y="4295331"/>
            <a:ext cx="5507177" cy="3743598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0EAD56A9-2449-4C71-8980-E67B4985F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931" y="4381817"/>
            <a:ext cx="5157569" cy="3570625"/>
          </a:xfrm>
          <a:prstGeom prst="rect">
            <a:avLst/>
          </a:prstGeom>
        </p:spPr>
      </p:pic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4ADE1D0-A460-4593-ABC8-274FE648C4B9}"/>
              </a:ext>
            </a:extLst>
          </p:cNvPr>
          <p:cNvSpPr/>
          <p:nvPr/>
        </p:nvSpPr>
        <p:spPr>
          <a:xfrm>
            <a:off x="2488878" y="5601050"/>
            <a:ext cx="650604" cy="27893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56492C14-BC60-44DF-872D-F45154257C8A}"/>
              </a:ext>
            </a:extLst>
          </p:cNvPr>
          <p:cNvSpPr/>
          <p:nvPr/>
        </p:nvSpPr>
        <p:spPr>
          <a:xfrm>
            <a:off x="6902885" y="4620100"/>
            <a:ext cx="2132058" cy="27068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012E544-1FC6-4156-ADAE-DDBABCB35263}"/>
              </a:ext>
            </a:extLst>
          </p:cNvPr>
          <p:cNvSpPr txBox="1"/>
          <p:nvPr/>
        </p:nvSpPr>
        <p:spPr>
          <a:xfrm>
            <a:off x="5372450" y="4039293"/>
            <a:ext cx="60946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C:\Program Files\NVIDIA GPU Computing Toolkit\CUDA\v11.8\bin</a:t>
            </a:r>
          </a:p>
        </p:txBody>
      </p:sp>
      <p:sp>
        <p:nvSpPr>
          <p:cNvPr id="16" name="吹き出し: 四角形 15">
            <a:extLst>
              <a:ext uri="{FF2B5EF4-FFF2-40B4-BE49-F238E27FC236}">
                <a16:creationId xmlns:a16="http://schemas.microsoft.com/office/drawing/2014/main" id="{AEAC4E7A-103C-4D76-A81A-C1AF8ABB17F9}"/>
              </a:ext>
            </a:extLst>
          </p:cNvPr>
          <p:cNvSpPr/>
          <p:nvPr/>
        </p:nvSpPr>
        <p:spPr>
          <a:xfrm>
            <a:off x="3553195" y="4802979"/>
            <a:ext cx="1639590" cy="612648"/>
          </a:xfrm>
          <a:prstGeom prst="wedgeRectCallout">
            <a:avLst>
              <a:gd name="adj1" fmla="val -69952"/>
              <a:gd name="adj2" fmla="val 5702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copy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89853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74AD4E-CAD2-4C5D-BF48-9E6D220AD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200D2EB-7029-4087-BAD1-78865CA2B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325" y="1973480"/>
            <a:ext cx="9363075" cy="4829175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6F4055D1-8E4F-456E-86AE-13CA5DCA63B1}"/>
              </a:ext>
            </a:extLst>
          </p:cNvPr>
          <p:cNvSpPr/>
          <p:nvPr/>
        </p:nvSpPr>
        <p:spPr>
          <a:xfrm>
            <a:off x="1196996" y="3535075"/>
            <a:ext cx="3769640" cy="40165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3B5AB7B-474A-4937-A0F6-1628292E9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251" y="55345"/>
            <a:ext cx="5019675" cy="4772025"/>
          </a:xfrm>
          <a:prstGeom prst="rect">
            <a:avLst/>
          </a:prstGeom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FE72F0C0-F4ED-4AF0-B160-9F69C0BD468E}"/>
              </a:ext>
            </a:extLst>
          </p:cNvPr>
          <p:cNvSpPr/>
          <p:nvPr/>
        </p:nvSpPr>
        <p:spPr>
          <a:xfrm>
            <a:off x="6820251" y="1772651"/>
            <a:ext cx="3769640" cy="40165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A84E43AA-5DF8-483B-8E29-3F91F6F499C9}"/>
              </a:ext>
            </a:extLst>
          </p:cNvPr>
          <p:cNvSpPr/>
          <p:nvPr/>
        </p:nvSpPr>
        <p:spPr>
          <a:xfrm>
            <a:off x="4822256" y="2922427"/>
            <a:ext cx="2829827" cy="612648"/>
          </a:xfrm>
          <a:prstGeom prst="wedgeRectCallout">
            <a:avLst>
              <a:gd name="adj1" fmla="val -48724"/>
              <a:gd name="adj2" fmla="val 609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システム環境変数には</a:t>
            </a:r>
            <a:endParaRPr kumimoji="1" lang="en-US" altLang="ja-JP" dirty="0"/>
          </a:p>
          <a:p>
            <a:pPr algn="ctr"/>
            <a:r>
              <a:rPr lang="ja-JP" altLang="en-US" dirty="0"/>
              <a:t>追加できなかった。。</a:t>
            </a:r>
            <a:endParaRPr kumimoji="1" lang="ja-JP" altLang="en-US" dirty="0"/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AA825A5C-EA78-454E-A2FD-A46FE2A0ECD9}"/>
              </a:ext>
            </a:extLst>
          </p:cNvPr>
          <p:cNvSpPr/>
          <p:nvPr/>
        </p:nvSpPr>
        <p:spPr>
          <a:xfrm>
            <a:off x="4345382" y="886359"/>
            <a:ext cx="2829827" cy="612648"/>
          </a:xfrm>
          <a:prstGeom prst="wedgeRectCallout">
            <a:avLst>
              <a:gd name="adj1" fmla="val 35970"/>
              <a:gd name="adj2" fmla="val 1127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ユーザー環境変数に追加</a:t>
            </a:r>
          </a:p>
        </p:txBody>
      </p:sp>
    </p:spTree>
    <p:extLst>
      <p:ext uri="{BB962C8B-B14F-4D97-AF65-F5344CB8AC3E}">
        <p14:creationId xmlns:p14="http://schemas.microsoft.com/office/powerpoint/2010/main" val="546507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B9ECAA8E-14A7-4AEF-9075-952ECD7C5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EOF</a:t>
            </a:r>
            <a:endParaRPr lang="ja-JP" alt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E0CCDDD9-BEEA-4520-B6C9-B9881FDDF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29090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94af545-5a02-4bba-ac7c-043a44e37469" xsi:nil="true"/>
    <lcf76f155ced4ddcb4097134ff3c332f xmlns="f21b4232-28e8-4089-a7bb-6cc20f6d529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2EE20B5241C3C5448D6888E1DEA3901D" ma:contentTypeVersion="14" ma:contentTypeDescription="新しいドキュメントを作成します。" ma:contentTypeScope="" ma:versionID="44654cd1388e6f19cf51f000a0fa53ec">
  <xsd:schema xmlns:xsd="http://www.w3.org/2001/XMLSchema" xmlns:xs="http://www.w3.org/2001/XMLSchema" xmlns:p="http://schemas.microsoft.com/office/2006/metadata/properties" xmlns:ns2="f21b4232-28e8-4089-a7bb-6cc20f6d5298" xmlns:ns3="d94af545-5a02-4bba-ac7c-043a44e37469" targetNamespace="http://schemas.microsoft.com/office/2006/metadata/properties" ma:root="true" ma:fieldsID="c0a923633e213a6e9b0ba08b09253f9a" ns2:_="" ns3:_="">
    <xsd:import namespace="f21b4232-28e8-4089-a7bb-6cc20f6d5298"/>
    <xsd:import namespace="d94af545-5a02-4bba-ac7c-043a44e374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LengthInSeconds" minOccurs="0"/>
                <xsd:element ref="ns2:MediaServiceOCR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1b4232-28e8-4089-a7bb-6cc20f6d52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f4f58d62-8a6d-417b-8c5e-91d9e441c3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4af545-5a02-4bba-ac7c-043a44e3746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4c20878e-82c4-4c4d-bb65-784649544f17}" ma:internalName="TaxCatchAll" ma:showField="CatchAllData" ma:web="d94af545-5a02-4bba-ac7c-043a44e374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8F5B7E-0CE9-4B5E-B61D-3079CBAB14DA}">
  <ds:schemaRefs>
    <ds:schemaRef ds:uri="http://schemas.microsoft.com/office/2006/metadata/properties"/>
    <ds:schemaRef ds:uri="http://schemas.microsoft.com/office/infopath/2007/PartnerControls"/>
    <ds:schemaRef ds:uri="d94af545-5a02-4bba-ac7c-043a44e37469"/>
    <ds:schemaRef ds:uri="f21b4232-28e8-4089-a7bb-6cc20f6d5298"/>
  </ds:schemaRefs>
</ds:datastoreItem>
</file>

<file path=customXml/itemProps2.xml><?xml version="1.0" encoding="utf-8"?>
<ds:datastoreItem xmlns:ds="http://schemas.openxmlformats.org/officeDocument/2006/customXml" ds:itemID="{5DAA56C4-E9EC-431D-968D-8186C87224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233386-D355-40FC-9C7A-4CFBD0393A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1b4232-28e8-4089-a7bb-6cc20f6d5298"/>
    <ds:schemaRef ds:uri="d94af545-5a02-4bba-ac7c-043a44e374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11280</TotalTime>
  <Words>736</Words>
  <Application>Microsoft Office PowerPoint</Application>
  <PresentationFormat>ワイド画面</PresentationFormat>
  <Paragraphs>83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7" baseType="lpstr">
      <vt:lpstr>Hiragino Kaku Gothic ProN</vt:lpstr>
      <vt:lpstr>Ricty Diminished</vt:lpstr>
      <vt:lpstr>SFMono-Medium</vt:lpstr>
      <vt:lpstr>游ゴシック</vt:lpstr>
      <vt:lpstr>游ゴシック Light</vt:lpstr>
      <vt:lpstr>Arial</vt:lpstr>
      <vt:lpstr>Office テーマ</vt:lpstr>
      <vt:lpstr>Python仮想環境の構築</vt:lpstr>
      <vt:lpstr>gitのインストール</vt:lpstr>
      <vt:lpstr>pyenvのインストール</vt:lpstr>
      <vt:lpstr>pyenvのインストール</vt:lpstr>
      <vt:lpstr>pyenvのインストール</vt:lpstr>
      <vt:lpstr>pyenv + venvで環境構築</vt:lpstr>
      <vt:lpstr>pyenv + venvで環境構築</vt:lpstr>
      <vt:lpstr>PowerPoint プレゼンテーション</vt:lpstr>
      <vt:lpstr>GPU環境の構築</vt:lpstr>
      <vt:lpstr>GPUドライバのインストール</vt:lpstr>
      <vt:lpstr>PowerPoint プレゼンテーション</vt:lpstr>
      <vt:lpstr>CUDA toolkitのインストール</vt:lpstr>
      <vt:lpstr>PowerPoint プレゼンテーション</vt:lpstr>
      <vt:lpstr>PowerPoint プレゼンテーション</vt:lpstr>
      <vt:lpstr>cuDNNのインストール</vt:lpstr>
      <vt:lpstr>PowerPoint プレゼンテーション</vt:lpstr>
      <vt:lpstr>GPUデバイスの確認</vt:lpstr>
      <vt:lpstr>zlibのインストール</vt:lpstr>
      <vt:lpstr>PowerPoint プレゼンテーション</vt:lpstr>
      <vt:lpstr>EOF</vt:lpstr>
    </vt:vector>
  </TitlesOfParts>
  <Company>Topcon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kazunori asanuma(浅沼 和範)</dc:creator>
  <cp:lastModifiedBy>Kazunori Asanuma(浅沼 和範)</cp:lastModifiedBy>
  <cp:revision>122</cp:revision>
  <cp:lastPrinted>2022-12-20T10:14:50Z</cp:lastPrinted>
  <dcterms:created xsi:type="dcterms:W3CDTF">2022-11-05T01:28:45Z</dcterms:created>
  <dcterms:modified xsi:type="dcterms:W3CDTF">2025-07-31T02:40:20Z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0x0101002EE20B5241C3C5448D6888E1DEA3901D</vt:lpwstr>
  </property>
</Properties>
</file>